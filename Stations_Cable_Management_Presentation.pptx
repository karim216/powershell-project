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4D7275A-49A2-4757-96BE-6496C821FF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DCBEC0-20F3-476E-B9D5-E8BF3960DD2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538327E5-7D2A-406E-BC45-497A662BB86F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638AC427-B41F-45A6-A9DC-35319CE1E1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9A35597C-1BDA-4679-A6CF-177E56D4FC7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6FAD7E7-C676-4151-96A9-6712ECA68A1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0CBB4E07-D48A-40AA-8646-233D4AD0461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CECEC0D0-CF3F-4A45-BC46-5857EDBCCE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72C12BCC-0E2A-40BF-920F-D560173A05F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27E17598-2144-43FD-B76B-0E6F32FDCC3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14BCBF61-B325-4F96-A1A9-CAA08F117AC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fr-F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1A0DA38-2C3C-48F2-9A6E-43F4D38237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9BDA6C5-716C-4BA0-9188-47D2AE15BB0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93833CA-B2C7-45DE-B6FB-62DDB37A9A1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D4F3C5E-66FB-4A9A-B6B2-E603CEB2048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E9439F7-CD69-43AF-9F4A-3304641E01D1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1E4D7A2-C521-41F1-9F26-0357D683FEB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EA81205-C109-4419-A52A-977578F9559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6A6FE69-10A9-4715-B1AC-62FE39817AB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8819735-86AD-426C-8F2E-ED73160271BD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Cliquez pour éditer le format du texte-titre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88B1557-BEDC-42DC-BF1A-446F4012C6B0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Cliquez pour éditer le format du plan de texte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Troisième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Quatrième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Cinquième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Septième niveau de plan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&lt;date/heure&gt;</a:t>
            </a:r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fr-FR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fr-FR" sz="1400" spc="-1" strike="noStrike">
                <a:solidFill>
                  <a:srgbClr val="000000"/>
                </a:solidFill>
                <a:latin typeface="Times New Roman"/>
              </a:rPr>
              <a:t>&lt;pied de page&gt;</a:t>
            </a:r>
            <a:endParaRPr b="0" lang="fr-FR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B134C41-B9EB-4C38-833C-3A66F70A2B5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&lt;numéro&gt;</a:t>
            </a:fld>
            <a:endParaRPr b="0" lang="fr-FR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c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Box 1"/>
          <p:cNvSpPr/>
          <p:nvPr/>
        </p:nvSpPr>
        <p:spPr>
          <a:xfrm>
            <a:off x="822960" y="2789640"/>
            <a:ext cx="105152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4800" spc="-1" strike="noStrike">
                <a:solidFill>
                  <a:srgbClr val="ffffff"/>
                </a:solidFill>
                <a:latin typeface="Arial"/>
              </a:rPr>
              <a:t>Stations Cable Management</a:t>
            </a:r>
            <a:endParaRPr b="0" lang="fr-FR" sz="4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822960" y="3902400"/>
            <a:ext cx="10515240" cy="424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ffffff"/>
                </a:solidFill>
                <a:latin typeface="Arial"/>
              </a:rPr>
              <a:t>Point de projet — Audit, planning et décisions à prendre</a:t>
            </a:r>
            <a:endParaRPr b="0" lang="fr-FR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Rectangle 3"/>
          <p:cNvSpPr/>
          <p:nvPr/>
        </p:nvSpPr>
        <p:spPr>
          <a:xfrm>
            <a:off x="822960" y="2331720"/>
            <a:ext cx="1462680" cy="4464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0" bIns="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1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AUDIT — ÉTAT DES LIEUX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TextBox 3"/>
          <p:cNvSpPr/>
          <p:nvPr/>
        </p:nvSpPr>
        <p:spPr>
          <a:xfrm>
            <a:off x="640080" y="1905840"/>
            <a:ext cx="10881000" cy="22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4000" spc="-1" strike="noStrike">
                <a:solidFill>
                  <a:srgbClr val="9c2b2b"/>
                </a:solidFill>
                <a:latin typeface="Arial"/>
              </a:rPr>
              <a:t>150</a:t>
            </a:r>
            <a:endParaRPr b="0" lang="fr-FR" sz="14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TextBox 4"/>
          <p:cNvSpPr/>
          <p:nvPr/>
        </p:nvSpPr>
        <p:spPr>
          <a:xfrm>
            <a:off x="640080" y="4374720"/>
            <a:ext cx="1088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stations à traiter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TextBox 5"/>
          <p:cNvSpPr/>
          <p:nvPr/>
        </p:nvSpPr>
        <p:spPr>
          <a:xfrm>
            <a:off x="640080" y="5228280"/>
            <a:ext cx="10881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777777"/>
                </a:solidFill>
                <a:latin typeface="Arial"/>
              </a:rPr>
              <a:t>Volumétrie totale du projet, chiffres recoupés et vérifiés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6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AUDIT — CHARGE DE TRAVAIL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TextBox 3"/>
          <p:cNvSpPr/>
          <p:nvPr/>
        </p:nvSpPr>
        <p:spPr>
          <a:xfrm>
            <a:off x="640080" y="2134440"/>
            <a:ext cx="10881000" cy="17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1000" spc="-1" strike="noStrike">
                <a:solidFill>
                  <a:srgbClr val="9c2b2b"/>
                </a:solidFill>
                <a:latin typeface="Arial"/>
              </a:rPr>
              <a:t>207h40</a:t>
            </a:r>
            <a:endParaRPr b="0" lang="fr-FR" sz="1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640080" y="4374720"/>
            <a:ext cx="1088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de travail effectif, à deux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640080" y="5228280"/>
            <a:ext cx="10881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777777"/>
                </a:solidFill>
                <a:latin typeface="Arial"/>
              </a:rPr>
              <a:t>12 460 minutes cumulées sur les 150 stations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1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CONTEXTE DU PROJET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TextBox 3"/>
          <p:cNvSpPr/>
          <p:nvPr/>
        </p:nvSpPr>
        <p:spPr>
          <a:xfrm>
            <a:off x="640080" y="1067760"/>
            <a:ext cx="10881000" cy="10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400" spc="-1" strike="noStrike">
                <a:solidFill>
                  <a:srgbClr val="9c2b2b"/>
                </a:solidFill>
                <a:latin typeface="Arial"/>
              </a:rPr>
              <a:t>3 axes</a:t>
            </a:r>
            <a:endParaRPr b="0" lang="fr-FR" sz="6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3" name="Rectangle 4"/>
          <p:cNvSpPr/>
          <p:nvPr/>
        </p:nvSpPr>
        <p:spPr>
          <a:xfrm>
            <a:off x="640080" y="2743200"/>
            <a:ext cx="3565800" cy="2377080"/>
          </a:xfrm>
          <a:prstGeom prst="rect">
            <a:avLst/>
          </a:prstGeom>
          <a:solidFill>
            <a:srgbClr val="f2f2f2"/>
          </a:solidFill>
          <a:ln w="12700">
            <a:solidFill>
              <a:srgbClr val="9c2b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00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9c2b2b"/>
                </a:solidFill>
                <a:latin typeface="Arial"/>
              </a:rPr>
              <a:t>Fiabilisation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Arial"/>
              </a:rPr>
              <a:t>câbles &amp; équipements — logique "Secure IT"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Rectangle 5"/>
          <p:cNvSpPr/>
          <p:nvPr/>
        </p:nvSpPr>
        <p:spPr>
          <a:xfrm>
            <a:off x="4343400" y="2743200"/>
            <a:ext cx="3565800" cy="2377080"/>
          </a:xfrm>
          <a:prstGeom prst="rect">
            <a:avLst/>
          </a:prstGeom>
          <a:solidFill>
            <a:srgbClr val="f2f2f2"/>
          </a:solidFill>
          <a:ln w="12700">
            <a:solidFill>
              <a:srgbClr val="9c2b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00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9c2b2b"/>
                </a:solidFill>
                <a:latin typeface="Arial"/>
              </a:rPr>
              <a:t>Life Cycle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Arial"/>
              </a:rPr>
              <a:t>gestion du cycle de vie des thin clients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5" name="Rectangle 6"/>
          <p:cNvSpPr/>
          <p:nvPr/>
        </p:nvSpPr>
        <p:spPr>
          <a:xfrm>
            <a:off x="8046720" y="2743200"/>
            <a:ext cx="3565800" cy="2377080"/>
          </a:xfrm>
          <a:prstGeom prst="rect">
            <a:avLst/>
          </a:prstGeom>
          <a:solidFill>
            <a:srgbClr val="f2f2f2"/>
          </a:solidFill>
          <a:ln w="12700">
            <a:solidFill>
              <a:srgbClr val="9c2b2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20016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9c2b2b"/>
                </a:solidFill>
                <a:latin typeface="Arial"/>
              </a:rPr>
              <a:t>Génération</a:t>
            </a:r>
            <a:endParaRPr b="0" lang="fr-FR" sz="2200" spc="-1" strike="noStrike">
              <a:solidFill>
                <a:srgbClr val="000000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333333"/>
                </a:solidFill>
                <a:latin typeface="Arial"/>
              </a:rPr>
              <a:t>suivi des générations / modèles dans le temps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7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MÉTHODE DE PILOTAGE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TextBox 3"/>
          <p:cNvSpPr/>
          <p:nvPr/>
        </p:nvSpPr>
        <p:spPr>
          <a:xfrm>
            <a:off x="640080" y="2430000"/>
            <a:ext cx="10881000" cy="13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30000"/>
              </a:lnSpc>
            </a:pPr>
            <a:r>
              <a:rPr b="1" lang="en-US" sz="3200" spc="-1" strike="noStrike">
                <a:solidFill>
                  <a:srgbClr val="333333"/>
                </a:solidFill>
                <a:latin typeface="Arial"/>
              </a:rPr>
              <a:t>Audit</a:t>
            </a:r>
            <a:r>
              <a:rPr b="1" lang="en-US" sz="32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3200" spc="-1" strike="noStrike">
                <a:solidFill>
                  <a:srgbClr val="333333"/>
                </a:solidFill>
                <a:latin typeface="Arial"/>
              </a:rPr>
              <a:t>Check stock</a:t>
            </a:r>
            <a:r>
              <a:rPr b="1" lang="en-US" sz="32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3200" spc="-1" strike="noStrike">
                <a:solidFill>
                  <a:srgbClr val="333333"/>
                </a:solidFill>
                <a:latin typeface="Arial"/>
              </a:rPr>
              <a:t>Planifier</a:t>
            </a:r>
            <a:r>
              <a:rPr b="1" lang="en-US" sz="32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3200" spc="-1" strike="noStrike">
                <a:solidFill>
                  <a:srgbClr val="333333"/>
                </a:solidFill>
                <a:latin typeface="Arial"/>
              </a:rPr>
              <a:t>Benchmark</a:t>
            </a:r>
            <a:r>
              <a:rPr b="1" lang="en-US" sz="32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3200" spc="-1" strike="noStrike">
                <a:solidFill>
                  <a:srgbClr val="333333"/>
                </a:solidFill>
                <a:latin typeface="Arial"/>
              </a:rPr>
              <a:t>Réalisation</a:t>
            </a:r>
            <a:endParaRPr b="0" lang="fr-FR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TextBox 4"/>
          <p:cNvSpPr/>
          <p:nvPr/>
        </p:nvSpPr>
        <p:spPr>
          <a:xfrm>
            <a:off x="640080" y="5136840"/>
            <a:ext cx="10881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777777"/>
                </a:solidFill>
                <a:latin typeface="Arial"/>
              </a:rPr>
              <a:t>Retour possible vers l'Audit si l'estimation révèle un écart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1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ORDRE DE TRAITEMENT RETENU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TextBox 3"/>
          <p:cNvSpPr/>
          <p:nvPr/>
        </p:nvSpPr>
        <p:spPr>
          <a:xfrm>
            <a:off x="640080" y="2549160"/>
            <a:ext cx="10881000" cy="11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30000"/>
              </a:lnSpc>
            </a:pP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Medium</a:t>
            </a:r>
            <a:r>
              <a:rPr b="1" lang="en-US" sz="26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PCNS</a:t>
            </a:r>
            <a:r>
              <a:rPr b="1" lang="en-US" sz="26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KO</a:t>
            </a:r>
            <a:r>
              <a:rPr b="1" lang="en-US" sz="26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P2R</a:t>
            </a:r>
            <a:r>
              <a:rPr b="1" lang="en-US" sz="26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Jackpot</a:t>
            </a:r>
            <a:r>
              <a:rPr b="1" lang="en-US" sz="26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Vred</a:t>
            </a:r>
            <a:r>
              <a:rPr b="1" lang="en-US" sz="26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Slam</a:t>
            </a:r>
            <a:r>
              <a:rPr b="1" lang="en-US" sz="2600" spc="-1" strike="noStrike">
                <a:solidFill>
                  <a:srgbClr val="9c2b2b"/>
                </a:solidFill>
                <a:latin typeface="Arial"/>
              </a:rPr>
              <a:t>   →   </a:t>
            </a: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Solving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TextBox 4"/>
          <p:cNvSpPr/>
          <p:nvPr/>
        </p:nvSpPr>
        <p:spPr>
          <a:xfrm>
            <a:off x="640080" y="4466160"/>
            <a:ext cx="1088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8 process, un seul ordre de passage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4" name="TextBox 5"/>
          <p:cNvSpPr/>
          <p:nvPr/>
        </p:nvSpPr>
        <p:spPr>
          <a:xfrm>
            <a:off x="640080" y="5136840"/>
            <a:ext cx="10881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777777"/>
                </a:solidFill>
                <a:latin typeface="Arial"/>
              </a:rPr>
              <a:t>Les "singles" (Medium + PCNS) traités en priorité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6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CHECK STOCK — ÉQUIPEMENT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TextBox 3"/>
          <p:cNvSpPr/>
          <p:nvPr/>
        </p:nvSpPr>
        <p:spPr>
          <a:xfrm>
            <a:off x="640080" y="960120"/>
            <a:ext cx="10881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333333"/>
                </a:solidFill>
                <a:latin typeface="Arial"/>
              </a:rPr>
              <a:t>3 équipements à vérifier / remplacer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98" name="Table 4"/>
          <p:cNvGraphicFramePr/>
          <p:nvPr/>
        </p:nvGraphicFramePr>
        <p:xfrm>
          <a:off x="640080" y="1920240"/>
          <a:ext cx="10881000" cy="2088000"/>
        </p:xfrm>
        <a:graphic>
          <a:graphicData uri="http://schemas.openxmlformats.org/drawingml/2006/table">
            <a:tbl>
              <a:tblPr/>
              <a:tblGrid>
                <a:gridCol w="2743200"/>
                <a:gridCol w="2286000"/>
                <a:gridCol w="585216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Équipement</a:t>
                      </a:r>
                      <a:endParaRPr b="0" lang="fr-FR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Besoin max théorique</a:t>
                      </a:r>
                      <a:endParaRPr b="0" lang="fr-FR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Point d'attention</a:t>
                      </a:r>
                      <a:endParaRPr b="0" lang="fr-FR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TC (→ 655)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150 stations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Migration en cours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ZT 411 / 410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22 stations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ZT410 ancien : à envisager en remplacement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ZD 421 / GX 420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150 stations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Interchangeables : combiné, l'un ou l'autre convient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0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CHECK STOCK — COMMANDES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TextBox 3"/>
          <p:cNvSpPr/>
          <p:nvPr/>
        </p:nvSpPr>
        <p:spPr>
          <a:xfrm>
            <a:off x="640080" y="1982160"/>
            <a:ext cx="10881000" cy="207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3000" spc="-1" strike="noStrike">
                <a:solidFill>
                  <a:srgbClr val="9c2b2b"/>
                </a:solidFill>
                <a:latin typeface="Arial"/>
              </a:rPr>
              <a:t>≈ </a:t>
            </a:r>
            <a:r>
              <a:rPr b="1" lang="en-US" sz="13000" spc="-1" strike="noStrike">
                <a:solidFill>
                  <a:srgbClr val="9c2b2b"/>
                </a:solidFill>
                <a:latin typeface="Arial"/>
              </a:rPr>
              <a:t>152</a:t>
            </a:r>
            <a:endParaRPr b="0" lang="fr-FR" sz="1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TextBox 4"/>
          <p:cNvSpPr/>
          <p:nvPr/>
        </p:nvSpPr>
        <p:spPr>
          <a:xfrm>
            <a:off x="640080" y="4374720"/>
            <a:ext cx="1088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unités à commander (scénario prudent)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TextBox 5"/>
          <p:cNvSpPr/>
          <p:nvPr/>
        </p:nvSpPr>
        <p:spPr>
          <a:xfrm>
            <a:off x="640080" y="5228280"/>
            <a:ext cx="10881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777777"/>
                </a:solidFill>
                <a:latin typeface="Arial"/>
              </a:rPr>
              <a:t>TC 131 · ZT 10 · ZD/GX 11 — à confirmer après inventaire terrain réel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5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PLANIFIER — CADENCE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TextBox 3"/>
          <p:cNvSpPr/>
          <p:nvPr/>
        </p:nvSpPr>
        <p:spPr>
          <a:xfrm>
            <a:off x="640080" y="960120"/>
            <a:ext cx="1088100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800" spc="-1" strike="noStrike">
                <a:solidFill>
                  <a:srgbClr val="333333"/>
                </a:solidFill>
                <a:latin typeface="Arial"/>
              </a:rPr>
              <a:t>3 cadences envisagées</a:t>
            </a:r>
            <a:endParaRPr b="0" lang="fr-FR" sz="28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07" name="Table 4"/>
          <p:cNvGraphicFramePr/>
          <p:nvPr/>
        </p:nvGraphicFramePr>
        <p:xfrm>
          <a:off x="640080" y="1920240"/>
          <a:ext cx="10881000" cy="2011680"/>
        </p:xfrm>
        <a:graphic>
          <a:graphicData uri="http://schemas.openxmlformats.org/drawingml/2006/table">
            <a:tbl>
              <a:tblPr/>
              <a:tblGrid>
                <a:gridCol w="3657600"/>
                <a:gridCol w="2743200"/>
                <a:gridCol w="448056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Cadence</a:t>
                      </a:r>
                      <a:endParaRPr b="0" lang="fr-FR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Durée totale</a:t>
                      </a:r>
                      <a:endParaRPr b="0" lang="fr-FR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6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Projet fini le</a:t>
                      </a:r>
                      <a:endParaRPr b="0" lang="fr-FR" sz="16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1 station / jour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6,7 mois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22 mars 2027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2 stations / jour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3,3 mois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10 décembre 2026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7h / jour dédiées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1,4 mois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14 octobre 2026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8" name="TextBox 5"/>
          <p:cNvSpPr/>
          <p:nvPr/>
        </p:nvSpPr>
        <p:spPr>
          <a:xfrm>
            <a:off x="640080" y="4160520"/>
            <a:ext cx="1088100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i="1" lang="en-US" sz="1400" spc="-1" strike="noStrike">
                <a:solidFill>
                  <a:srgbClr val="777777"/>
                </a:solidFill>
                <a:latin typeface="Arial"/>
              </a:rPr>
              <a:t>Démarrage : lundi 31 août 2026  •  dates confirmées par le fichier Excel de suivi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PLANIFIER — IMPACT OPS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TextBox 3"/>
          <p:cNvSpPr/>
          <p:nvPr/>
        </p:nvSpPr>
        <p:spPr>
          <a:xfrm>
            <a:off x="640080" y="1631520"/>
            <a:ext cx="10881000" cy="75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9c2b2b"/>
                </a:solidFill>
                <a:latin typeface="Arial"/>
              </a:rPr>
              <a:t>L'arbitrage clé</a:t>
            </a:r>
            <a:endParaRPr b="0" lang="fr-FR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TextBox 4"/>
          <p:cNvSpPr/>
          <p:nvPr/>
        </p:nvSpPr>
        <p:spPr>
          <a:xfrm>
            <a:off x="640080" y="2820240"/>
            <a:ext cx="1088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Intensité de l'impact quotidien  vs.  durée du risque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13" name="Table 5"/>
          <p:cNvGraphicFramePr/>
          <p:nvPr/>
        </p:nvGraphicFramePr>
        <p:xfrm>
          <a:off x="1280160" y="3657600"/>
          <a:ext cx="9600840" cy="2011680"/>
        </p:xfrm>
        <a:graphic>
          <a:graphicData uri="http://schemas.openxmlformats.org/drawingml/2006/table">
            <a:tbl>
              <a:tblPr/>
              <a:tblGrid>
                <a:gridCol w="2743200"/>
                <a:gridCol w="4114800"/>
                <a:gridCol w="2743200"/>
              </a:tblGrid>
              <a:tr h="5029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Cadence</a:t>
                      </a:r>
                      <a:endParaRPr b="0" lang="fr-FR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Impact quotidien sur les OPS</a:t>
                      </a:r>
                      <a:endParaRPr b="0" lang="fr-FR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5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Durée du risque</a:t>
                      </a:r>
                      <a:endParaRPr b="0" lang="fr-FR" sz="15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9c2b2b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1 / jour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Quasi invisible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≈ </a:t>
                      </a: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6,7 mois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2 / jour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Modéré mais régulier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≈ </a:t>
                      </a: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3,3 mois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7h dédiées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Fort (aucune dispo ces jours-là)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≈ </a:t>
                      </a:r>
                      <a:r>
                        <a:rPr b="0" lang="en-US" sz="1500" spc="-1" strike="noStrike">
                          <a:solidFill>
                            <a:srgbClr val="333333"/>
                          </a:solidFill>
                          <a:latin typeface="Arial"/>
                        </a:rPr>
                        <a:t>1,4 mois</a:t>
                      </a:r>
                      <a:endParaRPr b="0" lang="fr-FR" sz="15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c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/>
          <p:nvPr/>
        </p:nvSpPr>
        <p:spPr>
          <a:xfrm>
            <a:off x="822960" y="1387440"/>
            <a:ext cx="10515240" cy="1064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6400" spc="-1" strike="noStrike">
                <a:solidFill>
                  <a:srgbClr val="ffffff"/>
                </a:solidFill>
                <a:latin typeface="Arial"/>
              </a:rPr>
              <a:t>2 décisions</a:t>
            </a:r>
            <a:endParaRPr b="0" lang="fr-FR" sz="6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2"/>
          <p:cNvSpPr/>
          <p:nvPr/>
        </p:nvSpPr>
        <p:spPr>
          <a:xfrm>
            <a:off x="822960" y="2408760"/>
            <a:ext cx="1051524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600" spc="-1" strike="noStrike">
                <a:solidFill>
                  <a:srgbClr val="ffffff"/>
                </a:solidFill>
                <a:latin typeface="Arial"/>
              </a:rPr>
              <a:t>en attente aujourd'hui</a:t>
            </a:r>
            <a:endParaRPr b="0" lang="fr-FR" sz="2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TextBox 3"/>
          <p:cNvSpPr/>
          <p:nvPr/>
        </p:nvSpPr>
        <p:spPr>
          <a:xfrm>
            <a:off x="822960" y="3795480"/>
            <a:ext cx="10515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1.  Cadence retenue  (1 / 2 / 7h par jour)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TextBox 4"/>
          <p:cNvSpPr/>
          <p:nvPr/>
        </p:nvSpPr>
        <p:spPr>
          <a:xfrm>
            <a:off x="822960" y="4709880"/>
            <a:ext cx="10515240" cy="455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Arial"/>
              </a:rPr>
              <a:t>2.  Quantités réelles en stock  (inventaire terrain à faire)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"/>
          <p:cNvSpPr/>
          <p:nvPr/>
        </p:nvSpPr>
        <p:spPr>
          <a:xfrm>
            <a:off x="0" y="0"/>
            <a:ext cx="12191400" cy="59760"/>
          </a:xfrm>
          <a:prstGeom prst="rect">
            <a:avLst/>
          </a:prstGeom>
          <a:solidFill>
            <a:srgbClr val="9c2b2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15120" bIns="151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9" name="TextBox 2"/>
          <p:cNvSpPr/>
          <p:nvPr/>
        </p:nvSpPr>
        <p:spPr>
          <a:xfrm>
            <a:off x="640080" y="411480"/>
            <a:ext cx="1097244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400" spc="-1" strike="noStrike">
                <a:solidFill>
                  <a:srgbClr val="9c2b2b"/>
                </a:solidFill>
                <a:latin typeface="Arial"/>
              </a:rPr>
              <a:t>RÉALISATION — OUTIL DE SUIVI</a:t>
            </a:r>
            <a:endParaRPr b="0" lang="fr-F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TextBox 3"/>
          <p:cNvSpPr/>
          <p:nvPr/>
        </p:nvSpPr>
        <p:spPr>
          <a:xfrm>
            <a:off x="640080" y="2423880"/>
            <a:ext cx="10881000" cy="118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7200" spc="-1" strike="noStrike">
                <a:solidFill>
                  <a:srgbClr val="333333"/>
                </a:solidFill>
                <a:latin typeface="Arial"/>
              </a:rPr>
              <a:t>1 fichier Excel</a:t>
            </a:r>
            <a:endParaRPr b="0" lang="fr-FR" sz="7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TextBox 4"/>
          <p:cNvSpPr/>
          <p:nvPr/>
        </p:nvSpPr>
        <p:spPr>
          <a:xfrm>
            <a:off x="640080" y="4374720"/>
            <a:ext cx="10881000" cy="48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600" spc="-1" strike="noStrike">
                <a:solidFill>
                  <a:srgbClr val="333333"/>
                </a:solidFill>
                <a:latin typeface="Arial"/>
              </a:rPr>
              <a:t>pour tout piloter</a:t>
            </a:r>
            <a:endParaRPr b="0" lang="fr-FR" sz="2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TextBox 5"/>
          <p:cNvSpPr/>
          <p:nvPr/>
        </p:nvSpPr>
        <p:spPr>
          <a:xfrm>
            <a:off x="640080" y="5228280"/>
            <a:ext cx="10881000" cy="33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algn="ctr" defTabSz="457200">
              <a:lnSpc>
                <a:spcPct val="100000"/>
              </a:lnSpc>
            </a:pPr>
            <a:r>
              <a:rPr b="0" i="1" lang="en-US" sz="1600" spc="-1" strike="noStrike">
                <a:solidFill>
                  <a:srgbClr val="777777"/>
                </a:solidFill>
                <a:latin typeface="Arial"/>
              </a:rPr>
              <a:t>Dashboard, Stock et Planning se recalculent automatiquement — dates de fin toujours à jour</a:t>
            </a:r>
            <a:endParaRPr b="0" lang="fr-FR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9c2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822960" y="2561040"/>
            <a:ext cx="10515240" cy="912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Arial"/>
              </a:rPr>
              <a:t>Prochaine étape</a:t>
            </a:r>
            <a:endParaRPr b="0" lang="fr-FR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TextBox 2"/>
          <p:cNvSpPr/>
          <p:nvPr/>
        </p:nvSpPr>
        <p:spPr>
          <a:xfrm>
            <a:off x="822960" y="3795480"/>
            <a:ext cx="10515240" cy="82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spAutoFit/>
          </a:bodyPr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Valider la cadence et lancer l'inventaire terrain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2400" spc="-1" strike="noStrike">
                <a:solidFill>
                  <a:srgbClr val="ffffff"/>
                </a:solidFill>
                <a:latin typeface="Arial"/>
              </a:rPr>
              <a:t>pour démarrer la réalisation</a:t>
            </a:r>
            <a:endParaRPr b="0" lang="fr-FR" sz="2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fr-FR</dc:language>
  <cp:lastModifiedBy/>
  <dcterms:modified xsi:type="dcterms:W3CDTF">2026-08-31T05:00:01Z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